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7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cznelson2005/resolve-ai/blob/main/code/ResolveFlow_AI.ipynb" TargetMode="External"/><Relationship Id="rId3" Type="http://schemas.openxmlformats.org/officeDocument/2006/relationships/hyperlink" Target="https://ai-powered-customer-support-triage-h9vv2fxuwvhud9xc5jmfn4.streamlit.app/" TargetMode="External"/><Relationship Id="rId4" Type="http://schemas.openxmlformats.org/officeDocument/2006/relationships/hyperlink" Target="https://www.linkedin.com/in/nelsonhjchou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2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7132319" y="-1097281"/>
            <a:ext cx="3657601" cy="3657601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-731520" y="3840479"/>
            <a:ext cx="2286001" cy="2286001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Shape 2"/>
          <p:cNvSpPr/>
          <p:nvPr/>
        </p:nvSpPr>
        <p:spPr>
          <a:xfrm>
            <a:off x="548640" y="914400"/>
            <a:ext cx="2377440" cy="320041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Text 3"/>
          <p:cNvSpPr txBox="1"/>
          <p:nvPr/>
        </p:nvSpPr>
        <p:spPr>
          <a:xfrm>
            <a:off x="548640" y="1010919"/>
            <a:ext cx="23774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RESEARCH PoC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548640" y="1547345"/>
            <a:ext cx="7772401" cy="654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200">
                <a:solidFill>
                  <a:srgbClr val="FFFFFF"/>
                </a:solidFill>
              </a:defRPr>
            </a:lvl1pPr>
          </a:lstStyle>
          <a:p>
            <a:pPr/>
            <a:r>
              <a:t>ResolveFlow AI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548640" y="2576656"/>
            <a:ext cx="685800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02C39A"/>
                </a:solidFill>
              </a:defRPr>
            </a:lvl1pPr>
          </a:lstStyle>
          <a:p>
            <a:pPr/>
            <a:r>
              <a:t>Multi-Agent RAG Pipeline for C2C Marketplace Support Triage</a:t>
            </a:r>
          </a:p>
        </p:txBody>
      </p:sp>
      <p:sp>
        <p:nvSpPr>
          <p:cNvPr id="26" name="Shape 6"/>
          <p:cNvSpPr/>
          <p:nvPr/>
        </p:nvSpPr>
        <p:spPr>
          <a:xfrm>
            <a:off x="548640" y="3090672"/>
            <a:ext cx="1828801" cy="36577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Shape 7"/>
          <p:cNvSpPr/>
          <p:nvPr/>
        </p:nvSpPr>
        <p:spPr>
          <a:xfrm>
            <a:off x="548640" y="3291840"/>
            <a:ext cx="1737361" cy="347473"/>
          </a:xfrm>
          <a:prstGeom prst="roundRect">
            <a:avLst>
              <a:gd name="adj" fmla="val 13158"/>
            </a:avLst>
          </a:prstGeom>
          <a:solidFill>
            <a:srgbClr val="1B2B5B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Text 8"/>
          <p:cNvSpPr txBox="1"/>
          <p:nvPr/>
        </p:nvSpPr>
        <p:spPr>
          <a:xfrm>
            <a:off x="548640" y="3397040"/>
            <a:ext cx="17373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028090"/>
                </a:solidFill>
              </a:defRPr>
            </a:lvl1pPr>
          </a:lstStyle>
          <a:p>
            <a:pPr/>
            <a:r>
              <a:t>Pinecone</a:t>
            </a:r>
          </a:p>
        </p:txBody>
      </p:sp>
      <p:sp>
        <p:nvSpPr>
          <p:cNvPr id="29" name="Shape 9"/>
          <p:cNvSpPr/>
          <p:nvPr/>
        </p:nvSpPr>
        <p:spPr>
          <a:xfrm>
            <a:off x="2468879" y="3291840"/>
            <a:ext cx="1737361" cy="347473"/>
          </a:xfrm>
          <a:prstGeom prst="roundRect">
            <a:avLst>
              <a:gd name="adj" fmla="val 13158"/>
            </a:avLst>
          </a:prstGeom>
          <a:solidFill>
            <a:srgbClr val="1B2B5B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Text 10"/>
          <p:cNvSpPr txBox="1"/>
          <p:nvPr/>
        </p:nvSpPr>
        <p:spPr>
          <a:xfrm>
            <a:off x="2468879" y="3397040"/>
            <a:ext cx="17373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028090"/>
                </a:solidFill>
              </a:defRPr>
            </a:lvl1pPr>
          </a:lstStyle>
          <a:p>
            <a:pPr/>
            <a:r>
              <a:t>Gemini 2.5</a:t>
            </a:r>
          </a:p>
        </p:txBody>
      </p:sp>
      <p:sp>
        <p:nvSpPr>
          <p:cNvPr id="31" name="Shape 11"/>
          <p:cNvSpPr/>
          <p:nvPr/>
        </p:nvSpPr>
        <p:spPr>
          <a:xfrm>
            <a:off x="4389120" y="3291840"/>
            <a:ext cx="1737361" cy="347473"/>
          </a:xfrm>
          <a:prstGeom prst="roundRect">
            <a:avLst>
              <a:gd name="adj" fmla="val 13158"/>
            </a:avLst>
          </a:prstGeom>
          <a:solidFill>
            <a:srgbClr val="1B2B5B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Text 12"/>
          <p:cNvSpPr txBox="1"/>
          <p:nvPr/>
        </p:nvSpPr>
        <p:spPr>
          <a:xfrm>
            <a:off x="4389120" y="3397040"/>
            <a:ext cx="17373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028090"/>
                </a:solidFill>
              </a:defRPr>
            </a:lvl1pPr>
          </a:lstStyle>
          <a:p>
            <a:pPr/>
            <a:r>
              <a:t>LangGraph</a:t>
            </a:r>
          </a:p>
        </p:txBody>
      </p:sp>
      <p:sp>
        <p:nvSpPr>
          <p:cNvPr id="33" name="Shape 13"/>
          <p:cNvSpPr/>
          <p:nvPr/>
        </p:nvSpPr>
        <p:spPr>
          <a:xfrm>
            <a:off x="6309359" y="3291840"/>
            <a:ext cx="1737361" cy="347473"/>
          </a:xfrm>
          <a:prstGeom prst="roundRect">
            <a:avLst>
              <a:gd name="adj" fmla="val 13158"/>
            </a:avLst>
          </a:prstGeom>
          <a:solidFill>
            <a:srgbClr val="1B2B5B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Text 14"/>
          <p:cNvSpPr txBox="1"/>
          <p:nvPr/>
        </p:nvSpPr>
        <p:spPr>
          <a:xfrm>
            <a:off x="6309359" y="3397040"/>
            <a:ext cx="17373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028090"/>
                </a:solidFill>
              </a:defRPr>
            </a:lvl1pPr>
          </a:lstStyle>
          <a:p>
            <a:pPr/>
            <a:r>
              <a:t>Streamlit</a:t>
            </a:r>
          </a:p>
        </p:txBody>
      </p:sp>
      <p:sp>
        <p:nvSpPr>
          <p:cNvPr id="35" name="Text 15"/>
          <p:cNvSpPr txBox="1"/>
          <p:nvPr/>
        </p:nvSpPr>
        <p:spPr>
          <a:xfrm>
            <a:off x="548640" y="4488619"/>
            <a:ext cx="36576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4FE"/>
                </a:solidFill>
              </a:defRPr>
            </a:lvl1pPr>
          </a:lstStyle>
          <a:p>
            <a:pPr/>
            <a:r>
              <a:t>Nelson Chou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 txBox="1"/>
          <p:nvPr/>
        </p:nvSpPr>
        <p:spPr>
          <a:xfrm>
            <a:off x="457200" y="368696"/>
            <a:ext cx="8229600" cy="40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1B2B5B"/>
                </a:solidFill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38" name="Text 1"/>
          <p:cNvSpPr txBox="1"/>
          <p:nvPr/>
        </p:nvSpPr>
        <p:spPr>
          <a:xfrm>
            <a:off x="457200" y="956880"/>
            <a:ext cx="82296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Customer support triage relies on inconsistent human judgement at scale</a:t>
            </a:r>
          </a:p>
        </p:txBody>
      </p:sp>
      <p:sp>
        <p:nvSpPr>
          <p:cNvPr id="39" name="Shape 2"/>
          <p:cNvSpPr/>
          <p:nvPr/>
        </p:nvSpPr>
        <p:spPr>
          <a:xfrm>
            <a:off x="365759" y="1417319"/>
            <a:ext cx="2651762" cy="3200401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101600" dist="38100" dir="27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4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1600200"/>
            <a:ext cx="548641" cy="548641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Text 3"/>
          <p:cNvSpPr txBox="1"/>
          <p:nvPr/>
        </p:nvSpPr>
        <p:spPr>
          <a:xfrm>
            <a:off x="502919" y="2431219"/>
            <a:ext cx="237744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E293B"/>
                </a:solidFill>
              </a:defRPr>
            </a:lvl1pPr>
          </a:lstStyle>
          <a:p>
            <a:pPr/>
            <a:r>
              <a:t>Inconsistent Decisions</a:t>
            </a:r>
          </a:p>
        </p:txBody>
      </p:sp>
      <p:sp>
        <p:nvSpPr>
          <p:cNvPr id="42" name="Text 4"/>
          <p:cNvSpPr txBox="1"/>
          <p:nvPr/>
        </p:nvSpPr>
        <p:spPr>
          <a:xfrm>
            <a:off x="502919" y="3379646"/>
            <a:ext cx="2377441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Escalation choices vary by agent — same issue handled differently depending on who picks it up</a:t>
            </a:r>
          </a:p>
        </p:txBody>
      </p:sp>
      <p:sp>
        <p:nvSpPr>
          <p:cNvPr id="43" name="Shape 5"/>
          <p:cNvSpPr/>
          <p:nvPr/>
        </p:nvSpPr>
        <p:spPr>
          <a:xfrm>
            <a:off x="3200400" y="1417319"/>
            <a:ext cx="2651761" cy="3200401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101600" dist="38100" dir="27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4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206240" y="1600200"/>
            <a:ext cx="548641" cy="548641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Text 6"/>
          <p:cNvSpPr txBox="1"/>
          <p:nvPr/>
        </p:nvSpPr>
        <p:spPr>
          <a:xfrm>
            <a:off x="3337559" y="2431219"/>
            <a:ext cx="237744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E293B"/>
                </a:solidFill>
              </a:defRPr>
            </a:lvl1pPr>
          </a:lstStyle>
          <a:p>
            <a:pPr/>
            <a:r>
              <a:t>Manual Supervisor Work</a:t>
            </a:r>
          </a:p>
        </p:txBody>
      </p:sp>
      <p:sp>
        <p:nvSpPr>
          <p:cNvPr id="46" name="Text 7"/>
          <p:cNvSpPr txBox="1"/>
          <p:nvPr/>
        </p:nvSpPr>
        <p:spPr>
          <a:xfrm>
            <a:off x="3337559" y="3379646"/>
            <a:ext cx="2377441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Supervisor resolution follows replicable logic yet still requires significant human time and coordination</a:t>
            </a:r>
          </a:p>
        </p:txBody>
      </p:sp>
      <p:sp>
        <p:nvSpPr>
          <p:cNvPr id="47" name="Shape 8"/>
          <p:cNvSpPr/>
          <p:nvPr/>
        </p:nvSpPr>
        <p:spPr>
          <a:xfrm>
            <a:off x="6035040" y="1417319"/>
            <a:ext cx="2651761" cy="3200401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101600" dist="38100" dir="27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48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040880" y="1600200"/>
            <a:ext cx="548641" cy="548641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Text 9"/>
          <p:cNvSpPr txBox="1"/>
          <p:nvPr/>
        </p:nvSpPr>
        <p:spPr>
          <a:xfrm>
            <a:off x="6172200" y="2431219"/>
            <a:ext cx="237744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E293B"/>
                </a:solidFill>
              </a:defRPr>
            </a:lvl1pPr>
          </a:lstStyle>
          <a:p>
            <a:pPr/>
            <a:r>
              <a:t>No Institutional Memory</a:t>
            </a:r>
          </a:p>
        </p:txBody>
      </p:sp>
      <p:sp>
        <p:nvSpPr>
          <p:cNvPr id="50" name="Text 10"/>
          <p:cNvSpPr txBox="1"/>
          <p:nvPr/>
        </p:nvSpPr>
        <p:spPr>
          <a:xfrm>
            <a:off x="6172200" y="3379646"/>
            <a:ext cx="2377440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Past cases and resolutions aren't searchable — every issue starts from zero with no historical context</a:t>
            </a:r>
          </a:p>
        </p:txBody>
      </p:sp>
      <p:sp>
        <p:nvSpPr>
          <p:cNvPr id="51" name="Shape 11"/>
          <p:cNvSpPr/>
          <p:nvPr/>
        </p:nvSpPr>
        <p:spPr>
          <a:xfrm>
            <a:off x="365759" y="4663440"/>
            <a:ext cx="8412482" cy="365761"/>
          </a:xfrm>
          <a:prstGeom prst="roundRect">
            <a:avLst>
              <a:gd name="adj" fmla="val 15000"/>
            </a:avLst>
          </a:prstGeom>
          <a:solidFill>
            <a:srgbClr val="1B2B5B"/>
          </a:solidFill>
          <a:ln w="12700">
            <a:solidFill>
              <a:srgbClr val="1B2B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Text 12"/>
          <p:cNvSpPr txBox="1"/>
          <p:nvPr/>
        </p:nvSpPr>
        <p:spPr>
          <a:xfrm>
            <a:off x="365759" y="4767887"/>
            <a:ext cx="841248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Result: inconsistent customer experience at scale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2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 txBox="1"/>
          <p:nvPr/>
        </p:nvSpPr>
        <p:spPr>
          <a:xfrm>
            <a:off x="457200" y="327548"/>
            <a:ext cx="8229600" cy="40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Solution Overview</a:t>
            </a:r>
          </a:p>
        </p:txBody>
      </p:sp>
      <p:sp>
        <p:nvSpPr>
          <p:cNvPr id="55" name="Text 1"/>
          <p:cNvSpPr txBox="1"/>
          <p:nvPr/>
        </p:nvSpPr>
        <p:spPr>
          <a:xfrm>
            <a:off x="457200" y="927407"/>
            <a:ext cx="82296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02C39A"/>
                </a:solidFill>
              </a:defRPr>
            </a:lvl1pPr>
          </a:lstStyle>
          <a:p>
            <a:pPr/>
            <a:r>
              <a:t>An agentic AI pipeline that standardizes escalation decisions and automates supervisor-level resolution</a:t>
            </a:r>
          </a:p>
        </p:txBody>
      </p:sp>
      <p:sp>
        <p:nvSpPr>
          <p:cNvPr id="56" name="Shape 2"/>
          <p:cNvSpPr/>
          <p:nvPr/>
        </p:nvSpPr>
        <p:spPr>
          <a:xfrm>
            <a:off x="320040" y="1417319"/>
            <a:ext cx="1417320" cy="1828801"/>
          </a:xfrm>
          <a:prstGeom prst="roundRect">
            <a:avLst>
              <a:gd name="adj" fmla="val 6452"/>
            </a:avLst>
          </a:prstGeom>
          <a:solidFill>
            <a:srgbClr val="20306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5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77240" y="1618488"/>
            <a:ext cx="502920" cy="50292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Text 3"/>
          <p:cNvSpPr txBox="1"/>
          <p:nvPr/>
        </p:nvSpPr>
        <p:spPr>
          <a:xfrm>
            <a:off x="320040" y="2259076"/>
            <a:ext cx="14173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Agent 1</a:t>
            </a:r>
          </a:p>
        </p:txBody>
      </p:sp>
      <p:sp>
        <p:nvSpPr>
          <p:cNvPr id="59" name="Text 4"/>
          <p:cNvSpPr txBox="1"/>
          <p:nvPr/>
        </p:nvSpPr>
        <p:spPr>
          <a:xfrm>
            <a:off x="320040" y="2499799"/>
            <a:ext cx="141732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Retrieval</a:t>
            </a:r>
          </a:p>
        </p:txBody>
      </p:sp>
      <p:sp>
        <p:nvSpPr>
          <p:cNvPr id="60" name="Text 5"/>
          <p:cNvSpPr txBox="1"/>
          <p:nvPr/>
        </p:nvSpPr>
        <p:spPr>
          <a:xfrm>
            <a:off x="320040" y="2862580"/>
            <a:ext cx="14173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02C39A"/>
                </a:solidFill>
              </a:defRPr>
            </a:lvl1pPr>
          </a:lstStyle>
          <a:p>
            <a:pPr/>
            <a:r>
              <a:t>RAG + Pinecone</a:t>
            </a:r>
          </a:p>
        </p:txBody>
      </p:sp>
      <p:sp>
        <p:nvSpPr>
          <p:cNvPr id="61" name="Shape 6"/>
          <p:cNvSpPr/>
          <p:nvPr/>
        </p:nvSpPr>
        <p:spPr>
          <a:xfrm>
            <a:off x="1783079" y="2331720"/>
            <a:ext cx="256033" cy="1"/>
          </a:xfrm>
          <a:prstGeom prst="line">
            <a:avLst/>
          </a:prstGeom>
          <a:ln w="254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Shape 7"/>
          <p:cNvSpPr/>
          <p:nvPr/>
        </p:nvSpPr>
        <p:spPr>
          <a:xfrm>
            <a:off x="2084832" y="1417319"/>
            <a:ext cx="1417321" cy="1828801"/>
          </a:xfrm>
          <a:prstGeom prst="roundRect">
            <a:avLst>
              <a:gd name="adj" fmla="val 6452"/>
            </a:avLst>
          </a:prstGeom>
          <a:solidFill>
            <a:srgbClr val="20306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63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42032" y="1618488"/>
            <a:ext cx="502921" cy="502921"/>
          </a:xfrm>
          <a:prstGeom prst="rect">
            <a:avLst/>
          </a:prstGeom>
          <a:ln w="12700">
            <a:miter lim="400000"/>
          </a:ln>
        </p:spPr>
      </p:pic>
      <p:sp>
        <p:nvSpPr>
          <p:cNvPr id="64" name="Text 8"/>
          <p:cNvSpPr txBox="1"/>
          <p:nvPr/>
        </p:nvSpPr>
        <p:spPr>
          <a:xfrm>
            <a:off x="2084832" y="2259076"/>
            <a:ext cx="1417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Agent 2</a:t>
            </a:r>
          </a:p>
        </p:txBody>
      </p:sp>
      <p:sp>
        <p:nvSpPr>
          <p:cNvPr id="65" name="Text 9"/>
          <p:cNvSpPr txBox="1"/>
          <p:nvPr/>
        </p:nvSpPr>
        <p:spPr>
          <a:xfrm>
            <a:off x="2084832" y="2499799"/>
            <a:ext cx="14173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Evaluation</a:t>
            </a:r>
          </a:p>
        </p:txBody>
      </p:sp>
      <p:sp>
        <p:nvSpPr>
          <p:cNvPr id="66" name="Text 10"/>
          <p:cNvSpPr txBox="1"/>
          <p:nvPr/>
        </p:nvSpPr>
        <p:spPr>
          <a:xfrm>
            <a:off x="2084832" y="2862580"/>
            <a:ext cx="1417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02C39A"/>
                </a:solidFill>
              </a:defRPr>
            </a:lvl1pPr>
          </a:lstStyle>
          <a:p>
            <a:pPr/>
            <a:r>
              <a:t>Severity + Flags</a:t>
            </a:r>
          </a:p>
        </p:txBody>
      </p:sp>
      <p:sp>
        <p:nvSpPr>
          <p:cNvPr id="67" name="Shape 11"/>
          <p:cNvSpPr/>
          <p:nvPr/>
        </p:nvSpPr>
        <p:spPr>
          <a:xfrm>
            <a:off x="3547871" y="2331720"/>
            <a:ext cx="256033" cy="1"/>
          </a:xfrm>
          <a:prstGeom prst="line">
            <a:avLst/>
          </a:prstGeom>
          <a:ln w="254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Shape 12"/>
          <p:cNvSpPr/>
          <p:nvPr/>
        </p:nvSpPr>
        <p:spPr>
          <a:xfrm>
            <a:off x="3849623" y="1417319"/>
            <a:ext cx="1417321" cy="1828801"/>
          </a:xfrm>
          <a:prstGeom prst="roundRect">
            <a:avLst>
              <a:gd name="adj" fmla="val 6452"/>
            </a:avLst>
          </a:prstGeom>
          <a:solidFill>
            <a:srgbClr val="20306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69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306823" y="1618488"/>
            <a:ext cx="502921" cy="502921"/>
          </a:xfrm>
          <a:prstGeom prst="rect">
            <a:avLst/>
          </a:prstGeom>
          <a:ln w="12700">
            <a:miter lim="400000"/>
          </a:ln>
        </p:spPr>
      </p:pic>
      <p:sp>
        <p:nvSpPr>
          <p:cNvPr id="70" name="Text 13"/>
          <p:cNvSpPr txBox="1"/>
          <p:nvPr/>
        </p:nvSpPr>
        <p:spPr>
          <a:xfrm>
            <a:off x="3849623" y="2259076"/>
            <a:ext cx="1417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Agent 3</a:t>
            </a:r>
          </a:p>
        </p:txBody>
      </p:sp>
      <p:sp>
        <p:nvSpPr>
          <p:cNvPr id="71" name="Text 14"/>
          <p:cNvSpPr txBox="1"/>
          <p:nvPr/>
        </p:nvSpPr>
        <p:spPr>
          <a:xfrm>
            <a:off x="3849623" y="2499799"/>
            <a:ext cx="14173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Response</a:t>
            </a:r>
          </a:p>
        </p:txBody>
      </p:sp>
      <p:sp>
        <p:nvSpPr>
          <p:cNvPr id="72" name="Text 15"/>
          <p:cNvSpPr txBox="1"/>
          <p:nvPr/>
        </p:nvSpPr>
        <p:spPr>
          <a:xfrm>
            <a:off x="3849623" y="2862580"/>
            <a:ext cx="1417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02C39A"/>
                </a:solidFill>
              </a:defRPr>
            </a:lvl1pPr>
          </a:lstStyle>
          <a:p>
            <a:pPr/>
            <a:r>
              <a:t>Tone-adjusted</a:t>
            </a:r>
          </a:p>
        </p:txBody>
      </p:sp>
      <p:sp>
        <p:nvSpPr>
          <p:cNvPr id="73" name="Shape 16"/>
          <p:cNvSpPr/>
          <p:nvPr/>
        </p:nvSpPr>
        <p:spPr>
          <a:xfrm>
            <a:off x="5312664" y="2331720"/>
            <a:ext cx="256033" cy="1"/>
          </a:xfrm>
          <a:prstGeom prst="line">
            <a:avLst/>
          </a:prstGeom>
          <a:ln w="254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Shape 17"/>
          <p:cNvSpPr/>
          <p:nvPr/>
        </p:nvSpPr>
        <p:spPr>
          <a:xfrm>
            <a:off x="5614415" y="1417319"/>
            <a:ext cx="1417321" cy="1828801"/>
          </a:xfrm>
          <a:prstGeom prst="roundRect">
            <a:avLst>
              <a:gd name="adj" fmla="val 6452"/>
            </a:avLst>
          </a:prstGeom>
          <a:solidFill>
            <a:srgbClr val="20306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75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071615" y="1618488"/>
            <a:ext cx="502921" cy="502921"/>
          </a:xfrm>
          <a:prstGeom prst="rect">
            <a:avLst/>
          </a:prstGeom>
          <a:ln w="12700">
            <a:miter lim="400000"/>
          </a:ln>
        </p:spPr>
      </p:pic>
      <p:sp>
        <p:nvSpPr>
          <p:cNvPr id="76" name="Text 18"/>
          <p:cNvSpPr txBox="1"/>
          <p:nvPr/>
        </p:nvSpPr>
        <p:spPr>
          <a:xfrm>
            <a:off x="5614415" y="2259076"/>
            <a:ext cx="1417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Agent 4</a:t>
            </a:r>
          </a:p>
        </p:txBody>
      </p:sp>
      <p:sp>
        <p:nvSpPr>
          <p:cNvPr id="77" name="Text 19"/>
          <p:cNvSpPr txBox="1"/>
          <p:nvPr/>
        </p:nvSpPr>
        <p:spPr>
          <a:xfrm>
            <a:off x="5614415" y="2499799"/>
            <a:ext cx="14173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Supervisor</a:t>
            </a:r>
          </a:p>
        </p:txBody>
      </p:sp>
      <p:sp>
        <p:nvSpPr>
          <p:cNvPr id="78" name="Text 20"/>
          <p:cNvSpPr txBox="1"/>
          <p:nvPr/>
        </p:nvSpPr>
        <p:spPr>
          <a:xfrm>
            <a:off x="5614415" y="2862580"/>
            <a:ext cx="1417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02C39A"/>
                </a:solidFill>
              </a:defRPr>
            </a:lvl1pPr>
          </a:lstStyle>
          <a:p>
            <a:pPr/>
            <a:r>
              <a:t>If escalated</a:t>
            </a:r>
          </a:p>
        </p:txBody>
      </p:sp>
      <p:sp>
        <p:nvSpPr>
          <p:cNvPr id="79" name="Shape 21"/>
          <p:cNvSpPr/>
          <p:nvPr/>
        </p:nvSpPr>
        <p:spPr>
          <a:xfrm>
            <a:off x="7077456" y="2331720"/>
            <a:ext cx="256033" cy="1"/>
          </a:xfrm>
          <a:prstGeom prst="line">
            <a:avLst/>
          </a:prstGeom>
          <a:ln w="254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Shape 22"/>
          <p:cNvSpPr/>
          <p:nvPr/>
        </p:nvSpPr>
        <p:spPr>
          <a:xfrm>
            <a:off x="7379207" y="1417319"/>
            <a:ext cx="1417321" cy="1828801"/>
          </a:xfrm>
          <a:prstGeom prst="roundRect">
            <a:avLst>
              <a:gd name="adj" fmla="val 6452"/>
            </a:avLst>
          </a:prstGeom>
          <a:solidFill>
            <a:srgbClr val="20306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81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7836407" y="1618488"/>
            <a:ext cx="502921" cy="502921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Text 23"/>
          <p:cNvSpPr txBox="1"/>
          <p:nvPr/>
        </p:nvSpPr>
        <p:spPr>
          <a:xfrm>
            <a:off x="7379207" y="2259076"/>
            <a:ext cx="1417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Agent 5</a:t>
            </a:r>
          </a:p>
        </p:txBody>
      </p:sp>
      <p:sp>
        <p:nvSpPr>
          <p:cNvPr id="83" name="Text 24"/>
          <p:cNvSpPr txBox="1"/>
          <p:nvPr/>
        </p:nvSpPr>
        <p:spPr>
          <a:xfrm>
            <a:off x="7379207" y="2499799"/>
            <a:ext cx="14173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Audit</a:t>
            </a:r>
          </a:p>
        </p:txBody>
      </p:sp>
      <p:sp>
        <p:nvSpPr>
          <p:cNvPr id="84" name="Text 25"/>
          <p:cNvSpPr txBox="1"/>
          <p:nvPr/>
        </p:nvSpPr>
        <p:spPr>
          <a:xfrm>
            <a:off x="7379207" y="2862580"/>
            <a:ext cx="1417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02C39A"/>
                </a:solidFill>
              </a:defRPr>
            </a:lvl1pPr>
          </a:lstStyle>
          <a:p>
            <a:pPr/>
            <a:r>
              <a:t>Logs to Pinecone</a:t>
            </a:r>
          </a:p>
        </p:txBody>
      </p:sp>
      <p:sp>
        <p:nvSpPr>
          <p:cNvPr id="85" name="Shape 26"/>
          <p:cNvSpPr/>
          <p:nvPr/>
        </p:nvSpPr>
        <p:spPr>
          <a:xfrm>
            <a:off x="320040" y="3311066"/>
            <a:ext cx="8503920" cy="717374"/>
          </a:xfrm>
          <a:prstGeom prst="roundRect">
            <a:avLst>
              <a:gd name="adj" fmla="val 7648"/>
            </a:avLst>
          </a:prstGeom>
          <a:solidFill>
            <a:srgbClr val="16204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Text 27"/>
          <p:cNvSpPr txBox="1"/>
          <p:nvPr/>
        </p:nvSpPr>
        <p:spPr>
          <a:xfrm>
            <a:off x="320040" y="2996856"/>
            <a:ext cx="8503920" cy="1033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000">
                <a:solidFill>
                  <a:srgbClr val="02C39A"/>
                </a:solidFill>
              </a:defRPr>
            </a:pPr>
          </a:p>
          <a:p>
            <a:pPr algn="ctr">
              <a:defRPr sz="1000">
                <a:solidFill>
                  <a:srgbClr val="02C39A"/>
                </a:solidFill>
              </a:defRPr>
            </a:pPr>
          </a:p>
          <a:p>
            <a:pPr algn="ctr">
              <a:defRPr sz="1000">
                <a:solidFill>
                  <a:srgbClr val="02C39A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⚡  </a:t>
            </a:r>
            <a:r>
              <a:t>Severity &lt; 4: Early Exit after Agent 3 — skips Supervisor, ~40% faster  ·  </a:t>
            </a:r>
          </a:p>
          <a:p>
            <a:pPr algn="ctr">
              <a:defRPr sz="1000">
                <a:solidFill>
                  <a:srgbClr val="02C39A"/>
                </a:solidFill>
              </a:defRPr>
            </a:pPr>
            <a:r>
              <a:t> 📊 Per-agent latency + token usage tracked in real time.</a:t>
            </a:r>
            <a:endParaRPr>
              <a:solidFill>
                <a:schemeClr val="accent6"/>
              </a:solidFill>
            </a:endParaRPr>
          </a:p>
          <a:p>
            <a:pPr algn="ctr">
              <a:defRPr sz="1000">
                <a:solidFill>
                  <a:srgbClr val="02C39A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🛡️  </a:t>
            </a:r>
            <a:r>
              <a:t>Trust &amp; Safety flag → Human Review circuit breaker</a:t>
            </a:r>
          </a:p>
        </p:txBody>
      </p:sp>
      <p:sp>
        <p:nvSpPr>
          <p:cNvPr id="87" name="Shape 28"/>
          <p:cNvSpPr/>
          <p:nvPr/>
        </p:nvSpPr>
        <p:spPr>
          <a:xfrm>
            <a:off x="320040" y="4211320"/>
            <a:ext cx="2651761" cy="411481"/>
          </a:xfrm>
          <a:prstGeom prst="roundRect">
            <a:avLst>
              <a:gd name="adj" fmla="val 15556"/>
            </a:avLst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Text 29"/>
          <p:cNvSpPr txBox="1"/>
          <p:nvPr/>
        </p:nvSpPr>
        <p:spPr>
          <a:xfrm>
            <a:off x="320039" y="4349926"/>
            <a:ext cx="265176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① Customer-facing answer</a:t>
            </a:r>
          </a:p>
        </p:txBody>
      </p:sp>
      <p:sp>
        <p:nvSpPr>
          <p:cNvPr id="89" name="Shape 30"/>
          <p:cNvSpPr/>
          <p:nvPr/>
        </p:nvSpPr>
        <p:spPr>
          <a:xfrm>
            <a:off x="3182111" y="4211320"/>
            <a:ext cx="2651762" cy="411481"/>
          </a:xfrm>
          <a:prstGeom prst="roundRect">
            <a:avLst>
              <a:gd name="adj" fmla="val 15556"/>
            </a:avLst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0" name="Text 31"/>
          <p:cNvSpPr txBox="1"/>
          <p:nvPr/>
        </p:nvSpPr>
        <p:spPr>
          <a:xfrm>
            <a:off x="3182111" y="4349926"/>
            <a:ext cx="265176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② Internal action plan</a:t>
            </a:r>
          </a:p>
        </p:txBody>
      </p:sp>
      <p:sp>
        <p:nvSpPr>
          <p:cNvPr id="91" name="Shape 32"/>
          <p:cNvSpPr/>
          <p:nvPr/>
        </p:nvSpPr>
        <p:spPr>
          <a:xfrm>
            <a:off x="6044184" y="4211320"/>
            <a:ext cx="2651761" cy="411481"/>
          </a:xfrm>
          <a:prstGeom prst="roundRect">
            <a:avLst>
              <a:gd name="adj" fmla="val 15556"/>
            </a:avLst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Text 33"/>
          <p:cNvSpPr txBox="1"/>
          <p:nvPr/>
        </p:nvSpPr>
        <p:spPr>
          <a:xfrm>
            <a:off x="6044184" y="4349926"/>
            <a:ext cx="265176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③ Audit ticket → Pinecone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 txBox="1"/>
          <p:nvPr/>
        </p:nvSpPr>
        <p:spPr>
          <a:xfrm>
            <a:off x="457200" y="327548"/>
            <a:ext cx="8229600" cy="40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1B2B5B"/>
                </a:solidFill>
              </a:defRPr>
            </a:lvl1pPr>
          </a:lstStyle>
          <a:p>
            <a:pPr/>
            <a:r>
              <a:t>Built for C2C Marketplace Reality</a:t>
            </a:r>
          </a:p>
        </p:txBody>
      </p:sp>
      <p:sp>
        <p:nvSpPr>
          <p:cNvPr id="95" name="Text 1"/>
          <p:cNvSpPr txBox="1"/>
          <p:nvPr/>
        </p:nvSpPr>
        <p:spPr>
          <a:xfrm>
            <a:off x="457200" y="913315"/>
            <a:ext cx="822960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pPr/>
            <a:r>
              <a:t>Generic support tools don't understand buyer · seller · platform dynamics</a:t>
            </a:r>
          </a:p>
        </p:txBody>
      </p:sp>
      <p:sp>
        <p:nvSpPr>
          <p:cNvPr id="96" name="Shape 2"/>
          <p:cNvSpPr/>
          <p:nvPr/>
        </p:nvSpPr>
        <p:spPr>
          <a:xfrm>
            <a:off x="365759" y="1325880"/>
            <a:ext cx="3931922" cy="3520441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101600" dist="38100" dir="27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" name="Text 3"/>
          <p:cNvSpPr txBox="1"/>
          <p:nvPr/>
        </p:nvSpPr>
        <p:spPr>
          <a:xfrm>
            <a:off x="502919" y="1596960"/>
            <a:ext cx="36576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B2B5B"/>
                </a:solidFill>
              </a:defRPr>
            </a:lvl1pPr>
          </a:lstStyle>
          <a:p>
            <a:pPr/>
            <a:r>
              <a:t>What makes this different</a:t>
            </a:r>
          </a:p>
        </p:txBody>
      </p:sp>
      <p:pic>
        <p:nvPicPr>
          <p:cNvPr id="9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2919" y="2029967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Text 4"/>
          <p:cNvSpPr txBox="1"/>
          <p:nvPr/>
        </p:nvSpPr>
        <p:spPr>
          <a:xfrm>
            <a:off x="777240" y="2016042"/>
            <a:ext cx="338328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3-party context: buyer / seller / platform each have different escalation logic</a:t>
            </a:r>
          </a:p>
        </p:txBody>
      </p:sp>
      <p:pic>
        <p:nvPicPr>
          <p:cNvPr id="100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2919" y="2551176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Text 5"/>
          <p:cNvSpPr txBox="1"/>
          <p:nvPr/>
        </p:nvSpPr>
        <p:spPr>
          <a:xfrm>
            <a:off x="777240" y="2537250"/>
            <a:ext cx="338328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Transaction value as severity signal — high-value disputes auto-escalate</a:t>
            </a:r>
          </a:p>
        </p:txBody>
      </p:sp>
      <p:pic>
        <p:nvPicPr>
          <p:cNvPr id="102" name="Image 2" descr="Imag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2919" y="3072383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Text 6"/>
          <p:cNvSpPr txBox="1"/>
          <p:nvPr/>
        </p:nvSpPr>
        <p:spPr>
          <a:xfrm>
            <a:off x="777240" y="3141008"/>
            <a:ext cx="338328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Seller rating threshold triggers Trust &amp; Safety flag automatically</a:t>
            </a:r>
          </a:p>
        </p:txBody>
      </p:sp>
      <p:pic>
        <p:nvPicPr>
          <p:cNvPr id="104" name="Image 3" descr="Imag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2919" y="3593591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Text 7"/>
          <p:cNvSpPr txBox="1"/>
          <p:nvPr/>
        </p:nvSpPr>
        <p:spPr>
          <a:xfrm>
            <a:off x="777240" y="3579666"/>
            <a:ext cx="338328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Repeat dispute detection raises severity score for known offenders</a:t>
            </a:r>
          </a:p>
        </p:txBody>
      </p:sp>
      <p:pic>
        <p:nvPicPr>
          <p:cNvPr id="106" name="Image 4" descr="Imag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2919" y="4114800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Text 8"/>
          <p:cNvSpPr txBox="1"/>
          <p:nvPr/>
        </p:nvSpPr>
        <p:spPr>
          <a:xfrm>
            <a:off x="777240" y="4183424"/>
            <a:ext cx="338328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Institutional memory: similar past cases retrieved and factored in</a:t>
            </a:r>
          </a:p>
        </p:txBody>
      </p:sp>
      <p:sp>
        <p:nvSpPr>
          <p:cNvPr id="108" name="Shape 9"/>
          <p:cNvSpPr/>
          <p:nvPr/>
        </p:nvSpPr>
        <p:spPr>
          <a:xfrm>
            <a:off x="4572000" y="1325880"/>
            <a:ext cx="4206241" cy="1600201"/>
          </a:xfrm>
          <a:prstGeom prst="roundRect">
            <a:avLst>
              <a:gd name="adj" fmla="val 6857"/>
            </a:avLst>
          </a:prstGeom>
          <a:solidFill>
            <a:srgbClr val="1B2B5B"/>
          </a:solidFill>
          <a:ln w="12700">
            <a:solidFill>
              <a:srgbClr val="1B2B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Text 10"/>
          <p:cNvSpPr txBox="1"/>
          <p:nvPr/>
        </p:nvSpPr>
        <p:spPr>
          <a:xfrm>
            <a:off x="4709159" y="1531664"/>
            <a:ext cx="39319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2C39A"/>
                </a:solidFill>
              </a:defRPr>
            </a:lvl1pPr>
          </a:lstStyle>
          <a:p>
            <a:pPr/>
            <a:r>
              <a:t>Demo scenario</a:t>
            </a:r>
          </a:p>
        </p:txBody>
      </p:sp>
      <p:sp>
        <p:nvSpPr>
          <p:cNvPr id="110" name="Text 11"/>
          <p:cNvSpPr txBox="1"/>
          <p:nvPr/>
        </p:nvSpPr>
        <p:spPr>
          <a:xfrm>
            <a:off x="4709159" y="1956106"/>
            <a:ext cx="39319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FFFFFF"/>
                </a:solidFill>
              </a:defRPr>
            </a:lvl1pPr>
          </a:lstStyle>
          <a:p>
            <a:pPr/>
            <a:r>
              <a:t>"I paid in-app but seller disappeared after receiving payment"</a:t>
            </a:r>
          </a:p>
        </p:txBody>
      </p:sp>
      <p:sp>
        <p:nvSpPr>
          <p:cNvPr id="111" name="Text 12"/>
          <p:cNvSpPr txBox="1"/>
          <p:nvPr/>
        </p:nvSpPr>
        <p:spPr>
          <a:xfrm>
            <a:off x="4709159" y="2436920"/>
            <a:ext cx="39319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FDDA7"/>
                </a:solidFill>
              </a:defRPr>
            </a:lvl1pPr>
          </a:lstStyle>
          <a:p>
            <a:pPr/>
            <a:r>
              <a:t>buyer · $250 · seller rating 2.8 · 3 past disputes</a:t>
            </a:r>
          </a:p>
        </p:txBody>
      </p:sp>
      <p:sp>
        <p:nvSpPr>
          <p:cNvPr id="112" name="Shape 13"/>
          <p:cNvSpPr/>
          <p:nvPr/>
        </p:nvSpPr>
        <p:spPr>
          <a:xfrm>
            <a:off x="4572000" y="3090672"/>
            <a:ext cx="4206241" cy="1755649"/>
          </a:xfrm>
          <a:prstGeom prst="roundRect">
            <a:avLst>
              <a:gd name="adj" fmla="val 6250"/>
            </a:avLst>
          </a:prstGeom>
          <a:solidFill>
            <a:srgbClr val="E6FAF5"/>
          </a:solidFill>
          <a:ln w="12700">
            <a:solidFill>
              <a:srgbClr val="02C3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Text 14"/>
          <p:cNvSpPr txBox="1"/>
          <p:nvPr/>
        </p:nvSpPr>
        <p:spPr>
          <a:xfrm>
            <a:off x="4709159" y="3296456"/>
            <a:ext cx="39319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28090"/>
                </a:solidFill>
              </a:defRPr>
            </a:lvl1pPr>
          </a:lstStyle>
          <a:p>
            <a:pPr/>
            <a:r>
              <a:t>Pipeline output</a:t>
            </a:r>
          </a:p>
        </p:txBody>
      </p:sp>
      <p:sp>
        <p:nvSpPr>
          <p:cNvPr id="114" name="Text 15"/>
          <p:cNvSpPr txBox="1"/>
          <p:nvPr/>
        </p:nvSpPr>
        <p:spPr>
          <a:xfrm>
            <a:off x="4709159" y="3613657"/>
            <a:ext cx="3931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🚨  Severity 5 · Trust &amp; Safety flagged</a:t>
            </a:r>
          </a:p>
        </p:txBody>
      </p:sp>
      <p:sp>
        <p:nvSpPr>
          <p:cNvPr id="115" name="Text 16"/>
          <p:cNvSpPr txBox="1"/>
          <p:nvPr/>
        </p:nvSpPr>
        <p:spPr>
          <a:xfrm>
            <a:off x="4709159" y="3915409"/>
            <a:ext cx="3931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🛡️  Routed to trust_safety_team</a:t>
            </a:r>
          </a:p>
        </p:txBody>
      </p:sp>
      <p:sp>
        <p:nvSpPr>
          <p:cNvPr id="116" name="Text 17"/>
          <p:cNvSpPr txBox="1"/>
          <p:nvPr/>
        </p:nvSpPr>
        <p:spPr>
          <a:xfrm>
            <a:off x="4709159" y="4217161"/>
            <a:ext cx="3931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💰  Full refund recommended</a:t>
            </a:r>
          </a:p>
        </p:txBody>
      </p:sp>
      <p:sp>
        <p:nvSpPr>
          <p:cNvPr id="117" name="Text 18"/>
          <p:cNvSpPr txBox="1"/>
          <p:nvPr/>
        </p:nvSpPr>
        <p:spPr>
          <a:xfrm>
            <a:off x="4709159" y="4518913"/>
            <a:ext cx="3931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📋  Case logged to institutional memory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0"/>
          <p:cNvSpPr txBox="1"/>
          <p:nvPr/>
        </p:nvSpPr>
        <p:spPr>
          <a:xfrm>
            <a:off x="457200" y="327548"/>
            <a:ext cx="8229600" cy="40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1B2B5B"/>
                </a:solidFill>
              </a:defRPr>
            </a:lvl1pPr>
          </a:lstStyle>
          <a:p>
            <a:pPr/>
            <a:r>
              <a:t>Key Design Decisions &amp; Trade-offs</a:t>
            </a:r>
          </a:p>
        </p:txBody>
      </p:sp>
      <p:graphicFrame>
        <p:nvGraphicFramePr>
          <p:cNvPr id="120" name="Table 0"/>
          <p:cNvGraphicFramePr/>
          <p:nvPr/>
        </p:nvGraphicFramePr>
        <p:xfrm>
          <a:off x="365759" y="1005839"/>
          <a:ext cx="8412482" cy="173736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560320"/>
                <a:gridCol w="2926080"/>
                <a:gridCol w="292608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solidFill>
                      <a:srgbClr val="1B2B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Option Chosen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solidFill>
                      <a:srgbClr val="1B2B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Trade-off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solidFill>
                      <a:srgbClr val="1B2B5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What to embed?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Questions, not answers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Misses answer-content matches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Severity scoring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LLM-based (Gemini)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Non-deterministic across runs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Past case retrieval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Configurable similarity threshold (default: 0.81)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Higher threshold = fewer but more relevant past cases retrieved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Low-severity routing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Early exit after Agent 3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Saves ~40% latency for sev 1–2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2E8F0"/>
                      </a:solidFill>
                    </a:lnL>
                    <a:lnR w="12700">
                      <a:solidFill>
                        <a:srgbClr val="E2E8F0"/>
                      </a:solidFill>
                    </a:lnR>
                    <a:lnT w="12700">
                      <a:solidFill>
                        <a:srgbClr val="E2E8F0"/>
                      </a:solidFill>
                    </a:lnT>
                    <a:lnB w="12700">
                      <a:solidFill>
                        <a:srgbClr val="E2E8F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1" name="Text 1"/>
          <p:cNvSpPr txBox="1"/>
          <p:nvPr/>
        </p:nvSpPr>
        <p:spPr>
          <a:xfrm>
            <a:off x="365759" y="3107875"/>
            <a:ext cx="841248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B2B5B"/>
                </a:solidFill>
              </a:defRPr>
            </a:lvl1pPr>
          </a:lstStyle>
          <a:p>
            <a:pPr/>
            <a:r>
              <a:t>Decision in Practice</a:t>
            </a:r>
          </a:p>
        </p:txBody>
      </p:sp>
      <p:sp>
        <p:nvSpPr>
          <p:cNvPr id="122" name="Shape 2"/>
          <p:cNvSpPr/>
          <p:nvPr/>
        </p:nvSpPr>
        <p:spPr>
          <a:xfrm>
            <a:off x="365759" y="3474720"/>
            <a:ext cx="2606041" cy="566929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Text 3"/>
          <p:cNvSpPr txBox="1"/>
          <p:nvPr/>
        </p:nvSpPr>
        <p:spPr>
          <a:xfrm>
            <a:off x="457200" y="3689648"/>
            <a:ext cx="24231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DC2626"/>
                </a:solidFill>
              </a:defRPr>
            </a:lvl1pPr>
          </a:lstStyle>
          <a:p>
            <a:pPr/>
            <a:r>
              <a:t>Threshold 0.75 caused wrong severity scores</a:t>
            </a:r>
          </a:p>
        </p:txBody>
      </p:sp>
      <p:pic>
        <p:nvPicPr>
          <p:cNvPr id="12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44951" y="3666744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Shape 4"/>
          <p:cNvSpPr/>
          <p:nvPr/>
        </p:nvSpPr>
        <p:spPr>
          <a:xfrm>
            <a:off x="3227832" y="3474720"/>
            <a:ext cx="2606041" cy="566929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Text 5"/>
          <p:cNvSpPr txBox="1"/>
          <p:nvPr/>
        </p:nvSpPr>
        <p:spPr>
          <a:xfrm>
            <a:off x="3319271" y="3689648"/>
            <a:ext cx="24231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B2B5B"/>
                </a:solidFill>
              </a:defRPr>
            </a:lvl1pPr>
          </a:lstStyle>
          <a:p>
            <a:pPr/>
            <a:r>
              <a:t>Raised threshold to 0.81</a:t>
            </a:r>
          </a:p>
        </p:txBody>
      </p:sp>
      <p:pic>
        <p:nvPicPr>
          <p:cNvPr id="127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07023" y="3666744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Shape 6"/>
          <p:cNvSpPr/>
          <p:nvPr/>
        </p:nvSpPr>
        <p:spPr>
          <a:xfrm>
            <a:off x="6089903" y="3474720"/>
            <a:ext cx="2606041" cy="566929"/>
          </a:xfrm>
          <a:prstGeom prst="roundRect">
            <a:avLst>
              <a:gd name="adj" fmla="val 12903"/>
            </a:avLst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Text 7"/>
          <p:cNvSpPr txBox="1"/>
          <p:nvPr/>
        </p:nvSpPr>
        <p:spPr>
          <a:xfrm>
            <a:off x="6181344" y="3567683"/>
            <a:ext cx="242316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6A34A"/>
                </a:solidFill>
              </a:defRPr>
            </a:lvl1pPr>
          </a:lstStyle>
          <a:p>
            <a:pPr/>
            <a:r>
              <a:t>Unrelated past cases no longer affect evaluation ✅</a:t>
            </a:r>
          </a:p>
        </p:txBody>
      </p:sp>
      <p:sp>
        <p:nvSpPr>
          <p:cNvPr id="130" name="Shape 8"/>
          <p:cNvSpPr/>
          <p:nvPr/>
        </p:nvSpPr>
        <p:spPr>
          <a:xfrm>
            <a:off x="365759" y="4224528"/>
            <a:ext cx="2606041" cy="566929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Text 9"/>
          <p:cNvSpPr txBox="1"/>
          <p:nvPr/>
        </p:nvSpPr>
        <p:spPr>
          <a:xfrm>
            <a:off x="457200" y="4356906"/>
            <a:ext cx="2423161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DC2626"/>
                </a:solidFill>
              </a:defRPr>
            </a:lvl1pPr>
          </a:lstStyle>
          <a:p>
            <a:pPr/>
            <a:r>
              <a:t>Severity 1–2 queries ran all 5 agents unnecessarily</a:t>
            </a:r>
          </a:p>
        </p:txBody>
      </p:sp>
      <p:pic>
        <p:nvPicPr>
          <p:cNvPr id="132" name="Image 2" descr="Imag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44951" y="4416552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Shape 10"/>
          <p:cNvSpPr/>
          <p:nvPr/>
        </p:nvSpPr>
        <p:spPr>
          <a:xfrm>
            <a:off x="3227832" y="4224528"/>
            <a:ext cx="2606041" cy="566929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11"/>
          <p:cNvSpPr txBox="1"/>
          <p:nvPr/>
        </p:nvSpPr>
        <p:spPr>
          <a:xfrm>
            <a:off x="3319271" y="4439456"/>
            <a:ext cx="242316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B2B5B"/>
                </a:solidFill>
              </a:defRPr>
            </a:lvl1pPr>
          </a:lstStyle>
          <a:p>
            <a:pPr/>
            <a:r>
              <a:t>Early exit after Agent 3</a:t>
            </a:r>
          </a:p>
        </p:txBody>
      </p:sp>
      <p:pic>
        <p:nvPicPr>
          <p:cNvPr id="135" name="Image 3" descr="Imag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07023" y="4416552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Shape 12"/>
          <p:cNvSpPr/>
          <p:nvPr/>
        </p:nvSpPr>
        <p:spPr>
          <a:xfrm>
            <a:off x="6089903" y="4224528"/>
            <a:ext cx="2606041" cy="566929"/>
          </a:xfrm>
          <a:prstGeom prst="roundRect">
            <a:avLst>
              <a:gd name="adj" fmla="val 12903"/>
            </a:avLst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Text 13"/>
          <p:cNvSpPr txBox="1"/>
          <p:nvPr/>
        </p:nvSpPr>
        <p:spPr>
          <a:xfrm>
            <a:off x="6181344" y="4400041"/>
            <a:ext cx="242316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6A34A"/>
                </a:solidFill>
              </a:defRPr>
            </a:lvl1pPr>
          </a:lstStyle>
          <a:p>
            <a:pPr/>
            <a:r>
              <a:t>~40% latency reduction for routine queries ✅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2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 0"/>
          <p:cNvSpPr txBox="1"/>
          <p:nvPr/>
        </p:nvSpPr>
        <p:spPr>
          <a:xfrm>
            <a:off x="457200" y="327548"/>
            <a:ext cx="8229600" cy="40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Evaluation Framework &amp; Results</a:t>
            </a:r>
          </a:p>
        </p:txBody>
      </p:sp>
      <p:sp>
        <p:nvSpPr>
          <p:cNvPr id="140" name="Text 1"/>
          <p:cNvSpPr txBox="1"/>
          <p:nvPr/>
        </p:nvSpPr>
        <p:spPr>
          <a:xfrm>
            <a:off x="457200" y="918263"/>
            <a:ext cx="82296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02C39A"/>
                </a:solidFill>
              </a:defRPr>
            </a:lvl1pPr>
          </a:lstStyle>
          <a:p>
            <a:pPr/>
            <a:r>
              <a:t>20 labeled test cases · all 5 severity levels · boundary cases + conflicting signals</a:t>
            </a:r>
          </a:p>
        </p:txBody>
      </p:sp>
      <p:sp>
        <p:nvSpPr>
          <p:cNvPr id="141" name="Shape 2"/>
          <p:cNvSpPr/>
          <p:nvPr/>
        </p:nvSpPr>
        <p:spPr>
          <a:xfrm>
            <a:off x="365759" y="1325880"/>
            <a:ext cx="2651762" cy="1371601"/>
          </a:xfrm>
          <a:prstGeom prst="roundRect">
            <a:avLst>
              <a:gd name="adj" fmla="val 8000"/>
            </a:avLst>
          </a:prstGeom>
          <a:solidFill>
            <a:srgbClr val="20306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Text 3"/>
          <p:cNvSpPr txBox="1"/>
          <p:nvPr/>
        </p:nvSpPr>
        <p:spPr>
          <a:xfrm>
            <a:off x="365759" y="1478984"/>
            <a:ext cx="2651762" cy="562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4400">
                <a:solidFill>
                  <a:srgbClr val="02C39A"/>
                </a:solidFill>
              </a:defRPr>
            </a:lvl1pPr>
          </a:lstStyle>
          <a:p>
            <a:pPr/>
            <a:r>
              <a:t>0.25</a:t>
            </a:r>
          </a:p>
        </p:txBody>
      </p:sp>
      <p:sp>
        <p:nvSpPr>
          <p:cNvPr id="143" name="Text 4"/>
          <p:cNvSpPr txBox="1"/>
          <p:nvPr/>
        </p:nvSpPr>
        <p:spPr>
          <a:xfrm>
            <a:off x="365759" y="2173146"/>
            <a:ext cx="265176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Severity MAE</a:t>
            </a:r>
          </a:p>
        </p:txBody>
      </p:sp>
      <p:sp>
        <p:nvSpPr>
          <p:cNvPr id="144" name="Text 5"/>
          <p:cNvSpPr txBox="1"/>
          <p:nvPr/>
        </p:nvSpPr>
        <p:spPr>
          <a:xfrm>
            <a:off x="365759" y="2446527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target &lt; 0.5</a:t>
            </a:r>
          </a:p>
        </p:txBody>
      </p:sp>
      <p:sp>
        <p:nvSpPr>
          <p:cNvPr id="145" name="Shape 6"/>
          <p:cNvSpPr/>
          <p:nvPr/>
        </p:nvSpPr>
        <p:spPr>
          <a:xfrm>
            <a:off x="3227832" y="1325880"/>
            <a:ext cx="2651761" cy="1371601"/>
          </a:xfrm>
          <a:prstGeom prst="roundRect">
            <a:avLst>
              <a:gd name="adj" fmla="val 8000"/>
            </a:avLst>
          </a:prstGeom>
          <a:solidFill>
            <a:srgbClr val="20306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Text 7"/>
          <p:cNvSpPr txBox="1"/>
          <p:nvPr/>
        </p:nvSpPr>
        <p:spPr>
          <a:xfrm>
            <a:off x="3227832" y="1478984"/>
            <a:ext cx="2651761" cy="562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4400">
                <a:solidFill>
                  <a:srgbClr val="02C39A"/>
                </a:solidFill>
              </a:defRPr>
            </a:lvl1pPr>
          </a:lstStyle>
          <a:p>
            <a:pPr/>
            <a:r>
              <a:t>89%</a:t>
            </a:r>
          </a:p>
        </p:txBody>
      </p:sp>
      <p:sp>
        <p:nvSpPr>
          <p:cNvPr id="147" name="Text 8"/>
          <p:cNvSpPr txBox="1"/>
          <p:nvPr/>
        </p:nvSpPr>
        <p:spPr>
          <a:xfrm>
            <a:off x="3227832" y="2173146"/>
            <a:ext cx="265176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Escalation Precision</a:t>
            </a:r>
          </a:p>
        </p:txBody>
      </p:sp>
      <p:sp>
        <p:nvSpPr>
          <p:cNvPr id="148" name="Text 9"/>
          <p:cNvSpPr txBox="1"/>
          <p:nvPr/>
        </p:nvSpPr>
        <p:spPr>
          <a:xfrm>
            <a:off x="3227832" y="2446527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1 over-escalation</a:t>
            </a:r>
          </a:p>
        </p:txBody>
      </p:sp>
      <p:sp>
        <p:nvSpPr>
          <p:cNvPr id="149" name="Shape 10"/>
          <p:cNvSpPr/>
          <p:nvPr/>
        </p:nvSpPr>
        <p:spPr>
          <a:xfrm>
            <a:off x="6089903" y="1325880"/>
            <a:ext cx="2651761" cy="1371601"/>
          </a:xfrm>
          <a:prstGeom prst="roundRect">
            <a:avLst>
              <a:gd name="adj" fmla="val 8000"/>
            </a:avLst>
          </a:prstGeom>
          <a:solidFill>
            <a:srgbClr val="20306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Text 11"/>
          <p:cNvSpPr txBox="1"/>
          <p:nvPr/>
        </p:nvSpPr>
        <p:spPr>
          <a:xfrm>
            <a:off x="6089903" y="1478984"/>
            <a:ext cx="2651761" cy="562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4400">
                <a:solidFill>
                  <a:srgbClr val="02C39A"/>
                </a:solidFill>
              </a:defRPr>
            </a:lvl1pPr>
          </a:lstStyle>
          <a:p>
            <a:pPr/>
            <a:r>
              <a:t>100%</a:t>
            </a:r>
          </a:p>
        </p:txBody>
      </p:sp>
      <p:sp>
        <p:nvSpPr>
          <p:cNvPr id="151" name="Text 12"/>
          <p:cNvSpPr txBox="1"/>
          <p:nvPr/>
        </p:nvSpPr>
        <p:spPr>
          <a:xfrm>
            <a:off x="6089903" y="2173146"/>
            <a:ext cx="265176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Escalation Recall</a:t>
            </a:r>
          </a:p>
        </p:txBody>
      </p:sp>
      <p:sp>
        <p:nvSpPr>
          <p:cNvPr id="152" name="Text 13"/>
          <p:cNvSpPr txBox="1"/>
          <p:nvPr/>
        </p:nvSpPr>
        <p:spPr>
          <a:xfrm>
            <a:off x="6089903" y="2446527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zero missed</a:t>
            </a:r>
          </a:p>
        </p:txBody>
      </p:sp>
      <p:sp>
        <p:nvSpPr>
          <p:cNvPr id="153" name="Shape 14"/>
          <p:cNvSpPr/>
          <p:nvPr/>
        </p:nvSpPr>
        <p:spPr>
          <a:xfrm>
            <a:off x="365759" y="2880360"/>
            <a:ext cx="8412482" cy="1508761"/>
          </a:xfrm>
          <a:prstGeom prst="roundRect">
            <a:avLst>
              <a:gd name="adj" fmla="val 7273"/>
            </a:avLst>
          </a:prstGeom>
          <a:solidFill>
            <a:srgbClr val="16204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Text 15"/>
          <p:cNvSpPr txBox="1"/>
          <p:nvPr/>
        </p:nvSpPr>
        <p:spPr>
          <a:xfrm>
            <a:off x="548640" y="3080819"/>
            <a:ext cx="8046719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2C39A"/>
                </a:solidFill>
              </a:defRPr>
            </a:lvl1pPr>
          </a:lstStyle>
          <a:p>
            <a:pPr/>
            <a:r>
              <a:t>Honest Limitations</a:t>
            </a:r>
          </a:p>
        </p:txBody>
      </p:sp>
      <p:sp>
        <p:nvSpPr>
          <p:cNvPr id="155" name="Text 16"/>
          <p:cNvSpPr txBox="1"/>
          <p:nvPr/>
        </p:nvSpPr>
        <p:spPr>
          <a:xfrm>
            <a:off x="548640" y="3451904"/>
            <a:ext cx="8046719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4F7FB"/>
                </a:solidFill>
              </a:defRPr>
            </a:lvl1pPr>
          </a:lstStyle>
          <a:p>
            <a:pPr/>
            <a:r>
              <a:t>· Test cases are deliberately distinct — real-world boundary cases would likely reduce accuracy</a:t>
            </a:r>
          </a:p>
        </p:txBody>
      </p:sp>
      <p:sp>
        <p:nvSpPr>
          <p:cNvPr id="156" name="Text 17"/>
          <p:cNvSpPr txBox="1"/>
          <p:nvPr/>
        </p:nvSpPr>
        <p:spPr>
          <a:xfrm>
            <a:off x="548640" y="3753656"/>
            <a:ext cx="8046719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4F7FB"/>
                </a:solidFill>
              </a:defRPr>
            </a:lvl1pPr>
          </a:lstStyle>
          <a:p>
            <a:pPr/>
            <a:r>
              <a:t>· Severity scoring is LLM-based and non-deterministic — same query can score differently across runs</a:t>
            </a:r>
          </a:p>
        </p:txBody>
      </p:sp>
      <p:sp>
        <p:nvSpPr>
          <p:cNvPr id="157" name="Text 18"/>
          <p:cNvSpPr txBox="1"/>
          <p:nvPr/>
        </p:nvSpPr>
        <p:spPr>
          <a:xfrm>
            <a:off x="548640" y="4055408"/>
            <a:ext cx="8046719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4F7FB"/>
                </a:solidFill>
              </a:defRPr>
            </a:lvl1pPr>
          </a:lstStyle>
          <a:p>
            <a:pPr/>
            <a:r>
              <a:t>· Next step: RAGAS framework to evaluate retrieval precision and answer faithfulness at scale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 txBox="1"/>
          <p:nvPr/>
        </p:nvSpPr>
        <p:spPr>
          <a:xfrm>
            <a:off x="457200" y="327548"/>
            <a:ext cx="8229600" cy="40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1B2B5B"/>
                </a:solidFill>
              </a:defRPr>
            </a:lvl1pPr>
          </a:lstStyle>
          <a:p>
            <a:pPr/>
            <a:r>
              <a:t>Tech Stack &amp; Production Roadmap</a:t>
            </a:r>
          </a:p>
        </p:txBody>
      </p:sp>
      <p:sp>
        <p:nvSpPr>
          <p:cNvPr id="160" name="Shape 1"/>
          <p:cNvSpPr/>
          <p:nvPr/>
        </p:nvSpPr>
        <p:spPr>
          <a:xfrm>
            <a:off x="365759" y="987552"/>
            <a:ext cx="1965962" cy="640081"/>
          </a:xfrm>
          <a:prstGeom prst="roundRect">
            <a:avLst>
              <a:gd name="adj" fmla="val 14286"/>
            </a:avLst>
          </a:prstGeom>
          <a:solidFill>
            <a:srgbClr val="1B2B5B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Text 2"/>
          <p:cNvSpPr txBox="1"/>
          <p:nvPr/>
        </p:nvSpPr>
        <p:spPr>
          <a:xfrm>
            <a:off x="365759" y="1098726"/>
            <a:ext cx="196596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Pinecone</a:t>
            </a:r>
          </a:p>
        </p:txBody>
      </p:sp>
      <p:sp>
        <p:nvSpPr>
          <p:cNvPr id="162" name="Text 3"/>
          <p:cNvSpPr txBox="1"/>
          <p:nvPr/>
        </p:nvSpPr>
        <p:spPr>
          <a:xfrm>
            <a:off x="365759" y="1362963"/>
            <a:ext cx="1965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02C39A"/>
                </a:solidFill>
              </a:defRPr>
            </a:lvl1pPr>
          </a:lstStyle>
          <a:p>
            <a:pPr/>
            <a:r>
              <a:t>Vector DB · 2 namespaces</a:t>
            </a:r>
          </a:p>
        </p:txBody>
      </p:sp>
      <p:sp>
        <p:nvSpPr>
          <p:cNvPr id="163" name="Shape 4"/>
          <p:cNvSpPr/>
          <p:nvPr/>
        </p:nvSpPr>
        <p:spPr>
          <a:xfrm>
            <a:off x="2514600" y="987552"/>
            <a:ext cx="1965961" cy="640081"/>
          </a:xfrm>
          <a:prstGeom prst="roundRect">
            <a:avLst>
              <a:gd name="adj" fmla="val 14286"/>
            </a:avLst>
          </a:prstGeom>
          <a:solidFill>
            <a:srgbClr val="1B2B5B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5"/>
          <p:cNvSpPr txBox="1"/>
          <p:nvPr/>
        </p:nvSpPr>
        <p:spPr>
          <a:xfrm>
            <a:off x="2514600" y="1098726"/>
            <a:ext cx="196596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Gemini 2.5 Flash</a:t>
            </a:r>
          </a:p>
        </p:txBody>
      </p:sp>
      <p:sp>
        <p:nvSpPr>
          <p:cNvPr id="165" name="Text 6"/>
          <p:cNvSpPr txBox="1"/>
          <p:nvPr/>
        </p:nvSpPr>
        <p:spPr>
          <a:xfrm>
            <a:off x="2514600" y="1362963"/>
            <a:ext cx="1965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02C39A"/>
                </a:solidFill>
              </a:defRPr>
            </a:lvl1pPr>
          </a:lstStyle>
          <a:p>
            <a:pPr/>
            <a:r>
              <a:t>LLM + Embeddings</a:t>
            </a:r>
          </a:p>
        </p:txBody>
      </p:sp>
      <p:sp>
        <p:nvSpPr>
          <p:cNvPr id="166" name="Shape 7"/>
          <p:cNvSpPr/>
          <p:nvPr/>
        </p:nvSpPr>
        <p:spPr>
          <a:xfrm>
            <a:off x="4663440" y="987552"/>
            <a:ext cx="1965961" cy="640081"/>
          </a:xfrm>
          <a:prstGeom prst="roundRect">
            <a:avLst>
              <a:gd name="adj" fmla="val 14286"/>
            </a:avLst>
          </a:prstGeom>
          <a:solidFill>
            <a:srgbClr val="1B2B5B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Text 8"/>
          <p:cNvSpPr txBox="1"/>
          <p:nvPr/>
        </p:nvSpPr>
        <p:spPr>
          <a:xfrm>
            <a:off x="4663440" y="1098726"/>
            <a:ext cx="196596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LangGraph</a:t>
            </a:r>
          </a:p>
        </p:txBody>
      </p:sp>
      <p:sp>
        <p:nvSpPr>
          <p:cNvPr id="168" name="Text 9"/>
          <p:cNvSpPr txBox="1"/>
          <p:nvPr/>
        </p:nvSpPr>
        <p:spPr>
          <a:xfrm>
            <a:off x="4663440" y="1362963"/>
            <a:ext cx="1965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02C39A"/>
                </a:solidFill>
              </a:defRPr>
            </a:lvl1pPr>
          </a:lstStyle>
          <a:p>
            <a:pPr/>
            <a:r>
              <a:t>Agent orchestration</a:t>
            </a:r>
          </a:p>
        </p:txBody>
      </p:sp>
      <p:sp>
        <p:nvSpPr>
          <p:cNvPr id="169" name="Shape 10"/>
          <p:cNvSpPr/>
          <p:nvPr/>
        </p:nvSpPr>
        <p:spPr>
          <a:xfrm>
            <a:off x="6812280" y="987552"/>
            <a:ext cx="1965961" cy="640081"/>
          </a:xfrm>
          <a:prstGeom prst="roundRect">
            <a:avLst>
              <a:gd name="adj" fmla="val 14286"/>
            </a:avLst>
          </a:prstGeom>
          <a:solidFill>
            <a:srgbClr val="1B2B5B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11"/>
          <p:cNvSpPr txBox="1"/>
          <p:nvPr/>
        </p:nvSpPr>
        <p:spPr>
          <a:xfrm>
            <a:off x="6812280" y="1098726"/>
            <a:ext cx="196596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Streamlit</a:t>
            </a:r>
          </a:p>
        </p:txBody>
      </p:sp>
      <p:sp>
        <p:nvSpPr>
          <p:cNvPr id="171" name="Text 12"/>
          <p:cNvSpPr txBox="1"/>
          <p:nvPr/>
        </p:nvSpPr>
        <p:spPr>
          <a:xfrm>
            <a:off x="6812280" y="1299377"/>
            <a:ext cx="196596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900">
                <a:solidFill>
                  <a:srgbClr val="02C39A"/>
                </a:solidFill>
              </a:defRPr>
            </a:pPr>
            <a:r>
              <a:t>Demo UI</a:t>
            </a:r>
          </a:p>
          <a:p>
            <a:pPr algn="ctr">
              <a:defRPr sz="900">
                <a:solidFill>
                  <a:srgbClr val="02C39A"/>
                </a:solidFill>
              </a:defRPr>
            </a:pPr>
            <a:r>
              <a:t>Latency &amp; Token Monitoring</a:t>
            </a:r>
          </a:p>
        </p:txBody>
      </p:sp>
      <p:sp>
        <p:nvSpPr>
          <p:cNvPr id="172" name="Shape 13"/>
          <p:cNvSpPr/>
          <p:nvPr/>
        </p:nvSpPr>
        <p:spPr>
          <a:xfrm>
            <a:off x="365759" y="1828800"/>
            <a:ext cx="2651762" cy="2926080"/>
          </a:xfrm>
          <a:prstGeom prst="roundRect">
            <a:avLst>
              <a:gd name="adj" fmla="val 4138"/>
            </a:avLst>
          </a:prstGeom>
          <a:solidFill>
            <a:srgbClr val="FEF2F2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101600" dist="38100" dir="27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" name="Shape 14"/>
          <p:cNvSpPr/>
          <p:nvPr/>
        </p:nvSpPr>
        <p:spPr>
          <a:xfrm>
            <a:off x="365759" y="1828800"/>
            <a:ext cx="2651762" cy="384048"/>
          </a:xfrm>
          <a:prstGeom prst="roundRect">
            <a:avLst>
              <a:gd name="adj" fmla="val 28571"/>
            </a:avLst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Text 15"/>
          <p:cNvSpPr txBox="1"/>
          <p:nvPr/>
        </p:nvSpPr>
        <p:spPr>
          <a:xfrm>
            <a:off x="365759" y="1953690"/>
            <a:ext cx="265176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P0 — Must Have</a:t>
            </a:r>
          </a:p>
        </p:txBody>
      </p:sp>
      <p:sp>
        <p:nvSpPr>
          <p:cNvPr id="175" name="Text 16"/>
          <p:cNvSpPr txBox="1"/>
          <p:nvPr/>
        </p:nvSpPr>
        <p:spPr>
          <a:xfrm>
            <a:off x="502919" y="2546648"/>
            <a:ext cx="23774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· PII Redaction before embedding</a:t>
            </a:r>
          </a:p>
        </p:txBody>
      </p:sp>
      <p:sp>
        <p:nvSpPr>
          <p:cNvPr id="176" name="Text 17"/>
          <p:cNvSpPr txBox="1"/>
          <p:nvPr/>
        </p:nvSpPr>
        <p:spPr>
          <a:xfrm>
            <a:off x="502919" y="2956729"/>
            <a:ext cx="237744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· Per-agent error handling + fallback ← already implemented ✅</a:t>
            </a:r>
          </a:p>
        </p:txBody>
      </p:sp>
      <p:sp>
        <p:nvSpPr>
          <p:cNvPr id="177" name="Text 18"/>
          <p:cNvSpPr txBox="1"/>
          <p:nvPr/>
        </p:nvSpPr>
        <p:spPr>
          <a:xfrm>
            <a:off x="502919" y="4142784"/>
            <a:ext cx="23774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· FastAPI REST endpoint</a:t>
            </a:r>
          </a:p>
        </p:txBody>
      </p:sp>
      <p:sp>
        <p:nvSpPr>
          <p:cNvPr id="178" name="Shape 19"/>
          <p:cNvSpPr/>
          <p:nvPr/>
        </p:nvSpPr>
        <p:spPr>
          <a:xfrm>
            <a:off x="3227832" y="1828800"/>
            <a:ext cx="2651761" cy="2926080"/>
          </a:xfrm>
          <a:prstGeom prst="roundRect">
            <a:avLst>
              <a:gd name="adj" fmla="val 4138"/>
            </a:avLst>
          </a:prstGeom>
          <a:solidFill>
            <a:srgbClr val="FFFBEB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101600" dist="38100" dir="27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9" name="Shape 20"/>
          <p:cNvSpPr/>
          <p:nvPr/>
        </p:nvSpPr>
        <p:spPr>
          <a:xfrm>
            <a:off x="3227832" y="1828800"/>
            <a:ext cx="2651761" cy="384048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Text 21"/>
          <p:cNvSpPr txBox="1"/>
          <p:nvPr/>
        </p:nvSpPr>
        <p:spPr>
          <a:xfrm>
            <a:off x="3227832" y="1953690"/>
            <a:ext cx="265176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P1 — Production</a:t>
            </a:r>
          </a:p>
        </p:txBody>
      </p:sp>
      <p:sp>
        <p:nvSpPr>
          <p:cNvPr id="181" name="Text 22"/>
          <p:cNvSpPr txBox="1"/>
          <p:nvPr/>
        </p:nvSpPr>
        <p:spPr>
          <a:xfrm>
            <a:off x="3364991" y="2546648"/>
            <a:ext cx="23774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· Zendesk / ticketing integration</a:t>
            </a:r>
          </a:p>
        </p:txBody>
      </p:sp>
      <p:sp>
        <p:nvSpPr>
          <p:cNvPr id="182" name="Text 23"/>
          <p:cNvSpPr txBox="1"/>
          <p:nvPr/>
        </p:nvSpPr>
        <p:spPr>
          <a:xfrm>
            <a:off x="3364991" y="3344716"/>
            <a:ext cx="23774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· Human feedback loop on prompts</a:t>
            </a:r>
          </a:p>
        </p:txBody>
      </p:sp>
      <p:sp>
        <p:nvSpPr>
          <p:cNvPr id="183" name="Text 24"/>
          <p:cNvSpPr txBox="1"/>
          <p:nvPr/>
        </p:nvSpPr>
        <p:spPr>
          <a:xfrm>
            <a:off x="3364991" y="4142784"/>
            <a:ext cx="23774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· Monitoring: latency + drift</a:t>
            </a:r>
          </a:p>
        </p:txBody>
      </p:sp>
      <p:sp>
        <p:nvSpPr>
          <p:cNvPr id="184" name="Shape 25"/>
          <p:cNvSpPr/>
          <p:nvPr/>
        </p:nvSpPr>
        <p:spPr>
          <a:xfrm>
            <a:off x="6089903" y="1828800"/>
            <a:ext cx="2651761" cy="2926080"/>
          </a:xfrm>
          <a:prstGeom prst="roundRect">
            <a:avLst>
              <a:gd name="adj" fmla="val 4138"/>
            </a:avLst>
          </a:prstGeom>
          <a:solidFill>
            <a:srgbClr val="F0FDFA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101600" dist="38100" dir="27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5" name="Shape 26"/>
          <p:cNvSpPr/>
          <p:nvPr/>
        </p:nvSpPr>
        <p:spPr>
          <a:xfrm>
            <a:off x="6089903" y="1828800"/>
            <a:ext cx="2651761" cy="384048"/>
          </a:xfrm>
          <a:prstGeom prst="roundRect">
            <a:avLst>
              <a:gd name="adj" fmla="val 28571"/>
            </a:avLst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 27"/>
          <p:cNvSpPr txBox="1"/>
          <p:nvPr/>
        </p:nvSpPr>
        <p:spPr>
          <a:xfrm>
            <a:off x="6089903" y="1953690"/>
            <a:ext cx="265176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P2 — Scale</a:t>
            </a:r>
          </a:p>
        </p:txBody>
      </p:sp>
      <p:sp>
        <p:nvSpPr>
          <p:cNvPr id="187" name="Text 28"/>
          <p:cNvSpPr txBox="1"/>
          <p:nvPr/>
        </p:nvSpPr>
        <p:spPr>
          <a:xfrm>
            <a:off x="6227064" y="2546648"/>
            <a:ext cx="23774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· Multilingual embedding support</a:t>
            </a:r>
          </a:p>
        </p:txBody>
      </p:sp>
      <p:sp>
        <p:nvSpPr>
          <p:cNvPr id="188" name="Text 29"/>
          <p:cNvSpPr txBox="1"/>
          <p:nvPr/>
        </p:nvSpPr>
        <p:spPr>
          <a:xfrm>
            <a:off x="6227064" y="3344716"/>
            <a:ext cx="23774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· Hybrid search: vector + keyword</a:t>
            </a:r>
          </a:p>
        </p:txBody>
      </p:sp>
      <p:sp>
        <p:nvSpPr>
          <p:cNvPr id="189" name="Text 30"/>
          <p:cNvSpPr txBox="1"/>
          <p:nvPr/>
        </p:nvSpPr>
        <p:spPr>
          <a:xfrm>
            <a:off x="6227064" y="4142784"/>
            <a:ext cx="23774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· Fine-tuned severity classifier</a:t>
            </a:r>
          </a:p>
        </p:txBody>
      </p:sp>
      <p:sp>
        <p:nvSpPr>
          <p:cNvPr id="190" name="Text 17"/>
          <p:cNvSpPr txBox="1"/>
          <p:nvPr/>
        </p:nvSpPr>
        <p:spPr>
          <a:xfrm>
            <a:off x="502919" y="3488774"/>
            <a:ext cx="237744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· Per-agent latency + token tracking ← already implemented ✅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2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0"/>
          <p:cNvSpPr/>
          <p:nvPr/>
        </p:nvSpPr>
        <p:spPr>
          <a:xfrm>
            <a:off x="6858000" y="-731520"/>
            <a:ext cx="3200400" cy="3200401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Shape 1"/>
          <p:cNvSpPr/>
          <p:nvPr/>
        </p:nvSpPr>
        <p:spPr>
          <a:xfrm>
            <a:off x="-457200" y="3474720"/>
            <a:ext cx="2286000" cy="2286001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Text 2"/>
          <p:cNvSpPr txBox="1"/>
          <p:nvPr/>
        </p:nvSpPr>
        <p:spPr>
          <a:xfrm>
            <a:off x="548640" y="1201380"/>
            <a:ext cx="7315201" cy="614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800">
                <a:solidFill>
                  <a:srgbClr val="FFFFFF"/>
                </a:solidFill>
              </a:defRPr>
            </a:lvl1pPr>
          </a:lstStyle>
          <a:p>
            <a:pPr/>
            <a:r>
              <a:t>ResolveFlow AI</a:t>
            </a:r>
          </a:p>
        </p:txBody>
      </p:sp>
      <p:sp>
        <p:nvSpPr>
          <p:cNvPr id="195" name="Text 3"/>
          <p:cNvSpPr txBox="1"/>
          <p:nvPr/>
        </p:nvSpPr>
        <p:spPr>
          <a:xfrm>
            <a:off x="548640" y="2147001"/>
            <a:ext cx="6858001" cy="415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500">
                <a:solidFill>
                  <a:srgbClr val="02C39A"/>
                </a:solidFill>
              </a:defRPr>
            </a:pPr>
            <a:r>
              <a:t>From PoC to Handoff — a blueprint for AI-powered support triage</a:t>
            </a:r>
          </a:p>
          <a:p>
            <a:pPr>
              <a:defRPr sz="1500">
                <a:solidFill>
                  <a:srgbClr val="02C39A"/>
                </a:solidFill>
              </a:defRPr>
            </a:pPr>
            <a:r>
              <a:t>in C2C marketplace platforms</a:t>
            </a:r>
          </a:p>
        </p:txBody>
      </p:sp>
      <p:sp>
        <p:nvSpPr>
          <p:cNvPr id="196" name="Shape 4"/>
          <p:cNvSpPr/>
          <p:nvPr/>
        </p:nvSpPr>
        <p:spPr>
          <a:xfrm>
            <a:off x="548640" y="2926079"/>
            <a:ext cx="3474721" cy="402337"/>
          </a:xfrm>
          <a:prstGeom prst="roundRect">
            <a:avLst>
              <a:gd name="adj" fmla="val 18182"/>
            </a:avLst>
          </a:prstGeom>
          <a:solidFill>
            <a:srgbClr val="20306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Text 5"/>
          <p:cNvSpPr txBox="1"/>
          <p:nvPr/>
        </p:nvSpPr>
        <p:spPr>
          <a:xfrm>
            <a:off x="548639" y="3012947"/>
            <a:ext cx="347472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📓  </a:t>
            </a:r>
            <a:r>
              <a:rPr u="sng">
                <a:solidFill>
                  <a:srgbClr val="3986FF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Notebook on GitHub</a:t>
            </a:r>
          </a:p>
        </p:txBody>
      </p:sp>
      <p:sp>
        <p:nvSpPr>
          <p:cNvPr id="198" name="Shape 6"/>
          <p:cNvSpPr/>
          <p:nvPr/>
        </p:nvSpPr>
        <p:spPr>
          <a:xfrm>
            <a:off x="548640" y="3456432"/>
            <a:ext cx="3474721" cy="402337"/>
          </a:xfrm>
          <a:prstGeom prst="roundRect">
            <a:avLst>
              <a:gd name="adj" fmla="val 18182"/>
            </a:avLst>
          </a:prstGeom>
          <a:solidFill>
            <a:srgbClr val="20306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Text 7"/>
          <p:cNvSpPr txBox="1"/>
          <p:nvPr/>
        </p:nvSpPr>
        <p:spPr>
          <a:xfrm>
            <a:off x="548639" y="3543299"/>
            <a:ext cx="347472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🎮 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 invalidUrl="" action="" tgtFrame="" tooltip="" history="1" highlightClick="0" endSnd="0"/>
              </a:rPr>
              <a:t>Live Demo on Streamlit</a:t>
            </a:r>
          </a:p>
        </p:txBody>
      </p:sp>
      <p:sp>
        <p:nvSpPr>
          <p:cNvPr id="200" name="Shape 8"/>
          <p:cNvSpPr/>
          <p:nvPr/>
        </p:nvSpPr>
        <p:spPr>
          <a:xfrm>
            <a:off x="548640" y="3986784"/>
            <a:ext cx="3474721" cy="402337"/>
          </a:xfrm>
          <a:prstGeom prst="roundRect">
            <a:avLst>
              <a:gd name="adj" fmla="val 18182"/>
            </a:avLst>
          </a:prstGeom>
          <a:solidFill>
            <a:srgbClr val="20306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Text 9"/>
          <p:cNvSpPr txBox="1"/>
          <p:nvPr/>
        </p:nvSpPr>
        <p:spPr>
          <a:xfrm>
            <a:off x="548639" y="4073652"/>
            <a:ext cx="347472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💼 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4" invalidUrl="" action="" tgtFrame="" tooltip="" history="1" highlightClick="0" endSnd="0"/>
              </a:rPr>
              <a:t>Nelson Chou · LinkedIn</a:t>
            </a:r>
          </a:p>
        </p:txBody>
      </p:sp>
      <p:sp>
        <p:nvSpPr>
          <p:cNvPr id="202" name="Text 10"/>
          <p:cNvSpPr txBox="1"/>
          <p:nvPr/>
        </p:nvSpPr>
        <p:spPr>
          <a:xfrm>
            <a:off x="548640" y="4732064"/>
            <a:ext cx="7315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Built with Pinecone · Gemini · LangGraph · Streamlit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